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COMUNIDADE CONECTADA</a:t>
            </a:r>
            <a:endParaRPr b="1" sz="3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rPr>
              <a:t>Smart HAS — Fase 4</a:t>
            </a:r>
            <a:endParaRPr b="0" sz="1400">
              <a:solidFill>
                <a:srgbClr val="D6EA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457200" y="1333500"/>
            <a:ext cx="3810000" cy="2857500"/>
            <a:chOff x="457200" y="1333500"/>
            <a:chExt cx="3810000" cy="2857500"/>
          </a:xfrm>
        </p:grpSpPr>
        <p:pic>
          <p:nvPicPr>
            <p:cNvPr descr="A high-tech, modern smartphone displaying a colorful community map with resource icons and connectivity lines, professional photography, clean background." id="19" name="Google Shape;1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" y="1333500"/>
              <a:ext cx="3810000" cy="2857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457200" y="1333500"/>
              <a:ext cx="3810000" cy="2857500"/>
            </a:xfrm>
            <a:prstGeom prst="roundRect">
              <a:avLst>
                <a:gd fmla="val 6666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E86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3"/>
          <p:cNvGrpSpPr/>
          <p:nvPr/>
        </p:nvGrpSpPr>
        <p:grpSpPr>
          <a:xfrm>
            <a:off x="4495800" y="1333500"/>
            <a:ext cx="4191000" cy="1714500"/>
            <a:chOff x="4495800" y="1333500"/>
            <a:chExt cx="4191000" cy="1714500"/>
          </a:xfrm>
        </p:grpSpPr>
        <p:sp>
          <p:nvSpPr>
            <p:cNvPr id="22" name="Google Shape;22;p3"/>
            <p:cNvSpPr/>
            <p:nvPr/>
          </p:nvSpPr>
          <p:spPr>
            <a:xfrm>
              <a:off x="4495800" y="1333500"/>
              <a:ext cx="4191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4495800" y="13335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4762500" y="1476375"/>
              <a:ext cx="3733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Evolução Tecnológica</a:t>
              </a:r>
              <a:endParaRPr b="1" sz="14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Migração estratégica do ecossistema </a:t>
              </a:r>
              <a:r>
                <a:rPr b="1" lang="en-US" sz="12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Kotlin</a:t>
              </a:r>
              <a:r>
                <a:rPr lang="en-US" sz="12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 para </a:t>
              </a:r>
              <a:r>
                <a:rPr b="1" lang="en-US" sz="12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Flutter</a:t>
              </a:r>
              <a:r>
                <a:rPr lang="en-US" sz="12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, permitindo o desenvolvimento mobile multiplataforma eficiente.</a:t>
              </a:r>
              <a:endParaRPr sz="12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C3E50"/>
                </a:buClr>
                <a:buSzPts val="1200"/>
                <a:buFont typeface="Arial"/>
                <a:buChar char="●"/>
              </a:pPr>
              <a:r>
                <a:rPr lang="en-US" sz="12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Performance nativa em Android e iOS</a:t>
              </a:r>
              <a:endParaRPr sz="12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375"/>
                </a:spcBef>
                <a:spcAft>
                  <a:spcPts val="375"/>
                </a:spcAft>
                <a:buClr>
                  <a:srgbClr val="2C3E50"/>
                </a:buClr>
                <a:buSzPts val="1200"/>
                <a:buFont typeface="Arial"/>
                <a:buChar char="●"/>
              </a:pPr>
              <a:r>
                <a:rPr lang="en-US" sz="12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Manutenibilidade simplificada</a:t>
              </a:r>
              <a:endParaRPr sz="12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4495800" y="3238500"/>
            <a:ext cx="4191000" cy="952500"/>
            <a:chOff x="4495800" y="3238500"/>
            <a:chExt cx="4191000" cy="952500"/>
          </a:xfrm>
        </p:grpSpPr>
        <p:sp>
          <p:nvSpPr>
            <p:cNvPr id="26" name="Google Shape;26;p3"/>
            <p:cNvSpPr/>
            <p:nvPr/>
          </p:nvSpPr>
          <p:spPr>
            <a:xfrm>
              <a:off x="4495800" y="3238500"/>
              <a:ext cx="4191000" cy="952500"/>
            </a:xfrm>
            <a:prstGeom prst="roundRect">
              <a:avLst>
                <a:gd fmla="val 12000" name="adj"/>
              </a:avLst>
            </a:prstGeom>
            <a:solidFill>
              <a:srgbClr val="D6EA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 txBox="1"/>
            <p:nvPr/>
          </p:nvSpPr>
          <p:spPr>
            <a:xfrm>
              <a:off x="4686300" y="3238500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Yuri Sousa</a:t>
              </a:r>
              <a:endParaRPr b="1" sz="18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RM 556163 | 3SIOA | 3º Ano | 2026</a:t>
              </a:r>
              <a:endParaRPr sz="11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 txBox="1"/>
            <p:nvPr/>
          </p:nvSpPr>
          <p:spPr>
            <a:xfrm>
              <a:off x="8001000" y="3511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A527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account_circle</a:t>
              </a:r>
              <a:endParaRPr sz="2400">
                <a:solidFill>
                  <a:srgbClr val="1A527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9" name="Google Shape;29;p3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| Contexto — Da Fase 3 para a Fase 4</a:t>
            </a:r>
            <a:endParaRPr b="1"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4"/>
          <p:cNvGrpSpPr/>
          <p:nvPr/>
        </p:nvGrpSpPr>
        <p:grpSpPr>
          <a:xfrm>
            <a:off x="457200" y="1333500"/>
            <a:ext cx="3977700" cy="3238500"/>
            <a:chOff x="457200" y="1333500"/>
            <a:chExt cx="3977700" cy="3238500"/>
          </a:xfrm>
        </p:grpSpPr>
        <p:sp>
          <p:nvSpPr>
            <p:cNvPr id="38" name="Google Shape;38;p4"/>
            <p:cNvSpPr/>
            <p:nvPr/>
          </p:nvSpPr>
          <p:spPr>
            <a:xfrm>
              <a:off x="457200" y="1333500"/>
              <a:ext cx="39777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457200" y="1333500"/>
              <a:ext cx="3977700" cy="457200"/>
            </a:xfrm>
            <a:prstGeom prst="roundRect">
              <a:avLst>
                <a:gd fmla="val 25000" name="adj"/>
              </a:avLst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457200" y="1676400"/>
              <a:ext cx="3977700" cy="1143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 txBox="1"/>
            <p:nvPr/>
          </p:nvSpPr>
          <p:spPr>
            <a:xfrm>
              <a:off x="457200" y="1333500"/>
              <a:ext cx="3977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Fase 3 — Kotlin (o que existia)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 txBox="1"/>
            <p:nvPr/>
          </p:nvSpPr>
          <p:spPr>
            <a:xfrm>
              <a:off x="600075" y="1905000"/>
              <a:ext cx="3691800" cy="25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Android Nativo + Jetpack Compose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MVVM: ViewModel + StateFlow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Room DB (7 entidades, offline-first)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Repository como Single Source of Truth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LLMManager -&gt; Google Gemini API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Chatbot com typing indicator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MainScreen Shell + Bottom Nav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seedDatabase() com dados ficticios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4709160" y="1333500"/>
            <a:ext cx="3977700" cy="3238500"/>
            <a:chOff x="4709160" y="1333500"/>
            <a:chExt cx="3977700" cy="3238500"/>
          </a:xfrm>
        </p:grpSpPr>
        <p:sp>
          <p:nvSpPr>
            <p:cNvPr id="44" name="Google Shape;44;p4"/>
            <p:cNvSpPr/>
            <p:nvPr/>
          </p:nvSpPr>
          <p:spPr>
            <a:xfrm>
              <a:off x="4709160" y="1333500"/>
              <a:ext cx="39777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709160" y="1333500"/>
              <a:ext cx="3977700" cy="457200"/>
            </a:xfrm>
            <a:prstGeom prst="roundRect">
              <a:avLst>
                <a:gd fmla="val 25000" name="adj"/>
              </a:avLst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709160" y="1676400"/>
              <a:ext cx="3977700" cy="114300"/>
            </a:xfrm>
            <a:prstGeom prst="rect">
              <a:avLst/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 txBox="1"/>
            <p:nvPr/>
          </p:nvSpPr>
          <p:spPr>
            <a:xfrm>
              <a:off x="4709160" y="1333500"/>
              <a:ext cx="3977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Fase 4 — Flutter (o que evoluiu)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"/>
            <p:cNvSpPr txBox="1"/>
            <p:nvPr/>
          </p:nvSpPr>
          <p:spPr>
            <a:xfrm>
              <a:off x="4852035" y="1905000"/>
              <a:ext cx="3691800" cy="25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Flutter 3.x — Android + iOS no mesmo codigo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Provider: Auth, Resource, Chat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Google Maps integrado (novo!)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10 telas implementadas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OpenRouter AI (equivalente ao Gemini)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Firebase FCM planejado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Componentizacao com widgets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C3E50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ResourceCard e AppTheme globais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oogle Shape;49;p4"/>
          <p:cNvGrpSpPr/>
          <p:nvPr/>
        </p:nvGrpSpPr>
        <p:grpSpPr>
          <a:xfrm>
            <a:off x="4414838" y="2838450"/>
            <a:ext cx="319238" cy="228600"/>
            <a:chOff x="4414838" y="2838450"/>
            <a:chExt cx="319238" cy="228600"/>
          </a:xfrm>
        </p:grpSpPr>
        <p:pic>
          <p:nvPicPr>
            <p:cNvPr id="50" name="Google Shape;5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14838" y="2933700"/>
              <a:ext cx="3144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00575" y="2838450"/>
              <a:ext cx="133500" cy="22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| Evoluções da Fase 4</a:t>
            </a:r>
            <a:endParaRPr b="1"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5"/>
          <p:cNvGrpSpPr/>
          <p:nvPr/>
        </p:nvGrpSpPr>
        <p:grpSpPr>
          <a:xfrm>
            <a:off x="457200" y="1238250"/>
            <a:ext cx="2571900" cy="1428900"/>
            <a:chOff x="457200" y="1238250"/>
            <a:chExt cx="2571900" cy="1428900"/>
          </a:xfrm>
        </p:grpSpPr>
        <p:sp>
          <p:nvSpPr>
            <p:cNvPr id="60" name="Google Shape;60;p5"/>
            <p:cNvSpPr/>
            <p:nvPr/>
          </p:nvSpPr>
          <p:spPr>
            <a:xfrm>
              <a:off x="457200" y="1238250"/>
              <a:ext cx="2571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457200" y="1238250"/>
              <a:ext cx="2571900" cy="76200"/>
            </a:xfrm>
            <a:prstGeom prst="roundRect">
              <a:avLst>
                <a:gd fmla="val 50000" name="adj"/>
              </a:avLst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 txBox="1"/>
            <p:nvPr/>
          </p:nvSpPr>
          <p:spPr>
            <a:xfrm>
              <a:off x="600075" y="13811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Google Maps</a:t>
              </a:r>
              <a:endParaRPr b="1" sz="130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5D6D7E"/>
                  </a:solidFill>
                  <a:latin typeface="Arial"/>
                  <a:ea typeface="Arial"/>
                  <a:cs typeface="Arial"/>
                  <a:sym typeface="Arial"/>
                </a:rPr>
                <a:t>MapScreen com marcadores de recursos, localização do usuário e bottom sheet de detalhes.</a:t>
              </a:r>
              <a:endParaRPr b="0" sz="105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5"/>
          <p:cNvGrpSpPr/>
          <p:nvPr/>
        </p:nvGrpSpPr>
        <p:grpSpPr>
          <a:xfrm>
            <a:off x="3286125" y="1238250"/>
            <a:ext cx="2571900" cy="1428900"/>
            <a:chOff x="3286125" y="1238250"/>
            <a:chExt cx="2571900" cy="1428900"/>
          </a:xfrm>
        </p:grpSpPr>
        <p:sp>
          <p:nvSpPr>
            <p:cNvPr id="64" name="Google Shape;64;p5"/>
            <p:cNvSpPr/>
            <p:nvPr/>
          </p:nvSpPr>
          <p:spPr>
            <a:xfrm>
              <a:off x="3286125" y="1238250"/>
              <a:ext cx="2571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3286125" y="1238250"/>
              <a:ext cx="2571900" cy="76200"/>
            </a:xfrm>
            <a:prstGeom prst="roundRect">
              <a:avLst>
                <a:gd fmla="val 50000" name="adj"/>
              </a:avLst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5"/>
            <p:cNvSpPr txBox="1"/>
            <p:nvPr/>
          </p:nvSpPr>
          <p:spPr>
            <a:xfrm>
              <a:off x="3429000" y="13811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10 Telas Flutter</a:t>
              </a:r>
              <a:endParaRPr b="1" sz="13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5D6D7E"/>
                  </a:solidFill>
                  <a:latin typeface="Arial"/>
                  <a:ea typeface="Arial"/>
                  <a:cs typeface="Arial"/>
                  <a:sym typeface="Arial"/>
                </a:rPr>
                <a:t>Onboarding, Login, Home, Mapa, ChatList, Chat, Chatbot, Perfil, OfertaRecurso e Detalhe.</a:t>
              </a:r>
              <a:endParaRPr b="0" sz="105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5"/>
          <p:cNvGrpSpPr/>
          <p:nvPr/>
        </p:nvGrpSpPr>
        <p:grpSpPr>
          <a:xfrm>
            <a:off x="6115050" y="1238250"/>
            <a:ext cx="2571900" cy="1428900"/>
            <a:chOff x="6115050" y="1238250"/>
            <a:chExt cx="2571900" cy="1428900"/>
          </a:xfrm>
        </p:grpSpPr>
        <p:sp>
          <p:nvSpPr>
            <p:cNvPr id="68" name="Google Shape;68;p5"/>
            <p:cNvSpPr/>
            <p:nvPr/>
          </p:nvSpPr>
          <p:spPr>
            <a:xfrm>
              <a:off x="6115050" y="1238250"/>
              <a:ext cx="2571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115050" y="1238250"/>
              <a:ext cx="2571900" cy="76200"/>
            </a:xfrm>
            <a:prstGeom prst="roundRect">
              <a:avLst>
                <a:gd fmla="val 50000" name="adj"/>
              </a:avLst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5"/>
            <p:cNvSpPr txBox="1"/>
            <p:nvPr/>
          </p:nvSpPr>
          <p:spPr>
            <a:xfrm>
              <a:off x="6257925" y="13811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8449"/>
                  </a:solidFill>
                  <a:latin typeface="Arial"/>
                  <a:ea typeface="Arial"/>
                  <a:cs typeface="Arial"/>
                  <a:sym typeface="Arial"/>
                </a:rPr>
                <a:t>Provider Pattern</a:t>
              </a:r>
              <a:endParaRPr b="1" sz="1300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5D6D7E"/>
                  </a:solidFill>
                  <a:latin typeface="Arial"/>
                  <a:ea typeface="Arial"/>
                  <a:cs typeface="Arial"/>
                  <a:sym typeface="Arial"/>
                </a:rPr>
                <a:t>Estado global via AuthProvider, ResourceProvider e ChatProvider com Consumer&lt;T&gt;.</a:t>
              </a:r>
              <a:endParaRPr b="0" sz="105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5"/>
          <p:cNvGrpSpPr/>
          <p:nvPr/>
        </p:nvGrpSpPr>
        <p:grpSpPr>
          <a:xfrm>
            <a:off x="457200" y="2905125"/>
            <a:ext cx="2571900" cy="1428900"/>
            <a:chOff x="457200" y="2905125"/>
            <a:chExt cx="2571900" cy="1428900"/>
          </a:xfrm>
        </p:grpSpPr>
        <p:sp>
          <p:nvSpPr>
            <p:cNvPr id="72" name="Google Shape;72;p5"/>
            <p:cNvSpPr/>
            <p:nvPr/>
          </p:nvSpPr>
          <p:spPr>
            <a:xfrm>
              <a:off x="457200" y="2905125"/>
              <a:ext cx="2571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57200" y="2905125"/>
              <a:ext cx="2571900" cy="76200"/>
            </a:xfrm>
            <a:prstGeom prst="roundRect">
              <a:avLst>
                <a:gd fmla="val 50000" name="adj"/>
              </a:avLst>
            </a:prstGeom>
            <a:solidFill>
              <a:srgbClr val="7D3C9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600075" y="304800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D3C98"/>
                  </a:solidFill>
                  <a:latin typeface="Arial"/>
                  <a:ea typeface="Arial"/>
                  <a:cs typeface="Arial"/>
                  <a:sym typeface="Arial"/>
                </a:rPr>
                <a:t>OpenRouter AI</a:t>
              </a:r>
              <a:endParaRPr b="1" sz="1300">
                <a:solidFill>
                  <a:srgbClr val="7D3C9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5D6D7E"/>
                  </a:solidFill>
                  <a:latin typeface="Arial"/>
                  <a:ea typeface="Arial"/>
                  <a:cs typeface="Arial"/>
                  <a:sym typeface="Arial"/>
                </a:rPr>
                <a:t>Chatbot ConectaIA + melhoria de descrição + sugestão de categoria (LLMManager Fase 3).</a:t>
              </a:r>
              <a:endParaRPr b="0" sz="105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3286125" y="2905125"/>
            <a:ext cx="2571900" cy="1428900"/>
            <a:chOff x="3286125" y="2905125"/>
            <a:chExt cx="2571900" cy="1428900"/>
          </a:xfrm>
        </p:grpSpPr>
        <p:sp>
          <p:nvSpPr>
            <p:cNvPr id="76" name="Google Shape;76;p5"/>
            <p:cNvSpPr/>
            <p:nvPr/>
          </p:nvSpPr>
          <p:spPr>
            <a:xfrm>
              <a:off x="3286125" y="2905125"/>
              <a:ext cx="2571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3286125" y="2905125"/>
              <a:ext cx="2571900" cy="76200"/>
            </a:xfrm>
            <a:prstGeom prst="roundRect">
              <a:avLst>
                <a:gd fmla="val 50000" name="adj"/>
              </a:avLst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3429000" y="304800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E67E22"/>
                  </a:solidFill>
                  <a:latin typeface="Arial"/>
                  <a:ea typeface="Arial"/>
                  <a:cs typeface="Arial"/>
                  <a:sym typeface="Arial"/>
                </a:rPr>
                <a:t>Firebase FCM</a:t>
              </a:r>
              <a:endParaRPr b="1" sz="13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5D6D7E"/>
                  </a:solidFill>
                  <a:latin typeface="Arial"/>
                  <a:ea typeface="Arial"/>
                  <a:cs typeface="Arial"/>
                  <a:sym typeface="Arial"/>
                </a:rPr>
                <a:t>Push notification: trigger ao novo recurso e payload que abre MapScreen no toque.</a:t>
              </a:r>
              <a:endParaRPr b="0" sz="105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6115050" y="2905125"/>
            <a:ext cx="2571900" cy="1428900"/>
            <a:chOff x="6115050" y="2905125"/>
            <a:chExt cx="2571900" cy="1428900"/>
          </a:xfrm>
        </p:grpSpPr>
        <p:sp>
          <p:nvSpPr>
            <p:cNvPr id="80" name="Google Shape;80;p5"/>
            <p:cNvSpPr/>
            <p:nvPr/>
          </p:nvSpPr>
          <p:spPr>
            <a:xfrm>
              <a:off x="6115050" y="2905125"/>
              <a:ext cx="2571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115050" y="2905125"/>
              <a:ext cx="2571900" cy="76200"/>
            </a:xfrm>
            <a:prstGeom prst="roundRect">
              <a:avLst>
                <a:gd fmla="val 50000" name="adj"/>
              </a:avLst>
            </a:prstGeom>
            <a:solidFill>
              <a:srgbClr val="5D6D7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 txBox="1"/>
            <p:nvPr/>
          </p:nvSpPr>
          <p:spPr>
            <a:xfrm>
              <a:off x="6257925" y="304800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5D6D7E"/>
                  </a:solidFill>
                  <a:latin typeface="Arial"/>
                  <a:ea typeface="Arial"/>
                  <a:cs typeface="Arial"/>
                  <a:sym typeface="Arial"/>
                </a:rPr>
                <a:t>Componentização</a:t>
              </a:r>
              <a:endParaRPr b="1" sz="13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5D6D7E"/>
                  </a:solidFill>
                  <a:latin typeface="Arial"/>
                  <a:ea typeface="Arial"/>
                  <a:cs typeface="Arial"/>
                  <a:sym typeface="Arial"/>
                </a:rPr>
                <a:t>ResourceCard, AppTheme centralizado e camadas arquiteturais bem separadas.</a:t>
              </a:r>
              <a:endParaRPr b="0" sz="105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5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 | Arquitetura de Conectividade</a:t>
            </a:r>
            <a:endParaRPr b="1"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6"/>
          <p:cNvGrpSpPr/>
          <p:nvPr/>
        </p:nvGrpSpPr>
        <p:grpSpPr>
          <a:xfrm>
            <a:off x="2381250" y="1800225"/>
            <a:ext cx="2667150" cy="1543200"/>
            <a:chOff x="2381250" y="1800225"/>
            <a:chExt cx="2667150" cy="1543200"/>
          </a:xfrm>
        </p:grpSpPr>
        <p:pic>
          <p:nvPicPr>
            <p:cNvPr id="93" name="Google Shape;9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81250" y="1800225"/>
              <a:ext cx="4764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81250" y="3324225"/>
              <a:ext cx="4287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2562225"/>
              <a:ext cx="4764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6"/>
          <p:cNvGrpSpPr/>
          <p:nvPr/>
        </p:nvGrpSpPr>
        <p:grpSpPr>
          <a:xfrm>
            <a:off x="476250" y="1333500"/>
            <a:ext cx="1905000" cy="952500"/>
            <a:chOff x="476250" y="1333500"/>
            <a:chExt cx="1905000" cy="952500"/>
          </a:xfrm>
        </p:grpSpPr>
        <p:sp>
          <p:nvSpPr>
            <p:cNvPr id="97" name="Google Shape;97;p6"/>
            <p:cNvSpPr/>
            <p:nvPr/>
          </p:nvSpPr>
          <p:spPr>
            <a:xfrm>
              <a:off x="476250" y="1333500"/>
              <a:ext cx="1905000" cy="952500"/>
            </a:xfrm>
            <a:prstGeom prst="roundRect">
              <a:avLst>
                <a:gd fmla="val 8000" name="adj"/>
              </a:avLst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476250" y="133350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 Flutter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6EAF8"/>
                  </a:solidFill>
                  <a:latin typeface="Arial"/>
                  <a:ea typeface="Arial"/>
                  <a:cs typeface="Arial"/>
                  <a:sym typeface="Arial"/>
                </a:rPr>
                <a:t>Android / iOS</a:t>
              </a:r>
              <a:endParaRPr b="0" sz="10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6"/>
          <p:cNvGrpSpPr/>
          <p:nvPr/>
        </p:nvGrpSpPr>
        <p:grpSpPr>
          <a:xfrm>
            <a:off x="476250" y="2857500"/>
            <a:ext cx="1905000" cy="952500"/>
            <a:chOff x="476250" y="2857500"/>
            <a:chExt cx="1905000" cy="952500"/>
          </a:xfrm>
        </p:grpSpPr>
        <p:sp>
          <p:nvSpPr>
            <p:cNvPr id="100" name="Google Shape;100;p6"/>
            <p:cNvSpPr/>
            <p:nvPr/>
          </p:nvSpPr>
          <p:spPr>
            <a:xfrm>
              <a:off x="476250" y="2857500"/>
              <a:ext cx="1905000" cy="952500"/>
            </a:xfrm>
            <a:prstGeom prst="roundRect">
              <a:avLst>
                <a:gd fmla="val 8000" name="adj"/>
              </a:avLst>
            </a:prstGeom>
            <a:solidFill>
              <a:srgbClr val="5D6D7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 txBox="1"/>
            <p:nvPr/>
          </p:nvSpPr>
          <p:spPr>
            <a:xfrm>
              <a:off x="476250" y="285750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Sensores IoT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6"/>
          <p:cNvGrpSpPr/>
          <p:nvPr/>
        </p:nvGrpSpPr>
        <p:grpSpPr>
          <a:xfrm>
            <a:off x="2857500" y="1333500"/>
            <a:ext cx="1714500" cy="2476500"/>
            <a:chOff x="2857500" y="1333500"/>
            <a:chExt cx="1714500" cy="2476500"/>
          </a:xfrm>
        </p:grpSpPr>
        <p:sp>
          <p:nvSpPr>
            <p:cNvPr id="103" name="Google Shape;103;p6"/>
            <p:cNvSpPr/>
            <p:nvPr/>
          </p:nvSpPr>
          <p:spPr>
            <a:xfrm>
              <a:off x="2857500" y="1333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 txBox="1"/>
            <p:nvPr/>
          </p:nvSpPr>
          <p:spPr>
            <a:xfrm>
              <a:off x="2857500" y="1333500"/>
              <a:ext cx="1714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Roteador Local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6EAF8"/>
                  </a:solidFill>
                  <a:latin typeface="Arial"/>
                  <a:ea typeface="Arial"/>
                  <a:cs typeface="Arial"/>
                  <a:sym typeface="Arial"/>
                </a:rPr>
                <a:t>NAT / DHCP / Gateway</a:t>
              </a:r>
              <a:endParaRPr b="0" sz="10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6"/>
          <p:cNvGrpSpPr/>
          <p:nvPr/>
        </p:nvGrpSpPr>
        <p:grpSpPr>
          <a:xfrm>
            <a:off x="5048250" y="1333500"/>
            <a:ext cx="3810000" cy="2476500"/>
            <a:chOff x="5048250" y="1333500"/>
            <a:chExt cx="3810000" cy="2476500"/>
          </a:xfrm>
        </p:grpSpPr>
        <p:sp>
          <p:nvSpPr>
            <p:cNvPr id="106" name="Google Shape;106;p6"/>
            <p:cNvSpPr/>
            <p:nvPr/>
          </p:nvSpPr>
          <p:spPr>
            <a:xfrm>
              <a:off x="5048250" y="1333500"/>
              <a:ext cx="38100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D5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5048250" y="1333500"/>
              <a:ext cx="3810000" cy="381000"/>
            </a:xfrm>
            <a:prstGeom prst="roundRect">
              <a:avLst>
                <a:gd fmla="val 30000" name="adj"/>
              </a:avLst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5048250" y="1619250"/>
              <a:ext cx="3810000" cy="95400"/>
            </a:xfrm>
            <a:prstGeom prst="rect">
              <a:avLst/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 txBox="1"/>
            <p:nvPr/>
          </p:nvSpPr>
          <p:spPr>
            <a:xfrm>
              <a:off x="5048250" y="133350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Cloud Services &amp; Backend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5238750" y="1905000"/>
              <a:ext cx="1619100" cy="571500"/>
            </a:xfrm>
            <a:prstGeom prst="roundRect">
              <a:avLst>
                <a:gd fmla="val 10000" name="adj"/>
              </a:avLst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5238750" y="190500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OpenRouter AI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7048500" y="1905000"/>
              <a:ext cx="1619100" cy="571500"/>
            </a:xfrm>
            <a:prstGeom prst="roundRect">
              <a:avLst>
                <a:gd fmla="val 10000" name="adj"/>
              </a:avLst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6"/>
            <p:cNvSpPr txBox="1"/>
            <p:nvPr/>
          </p:nvSpPr>
          <p:spPr>
            <a:xfrm>
              <a:off x="7048500" y="190500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Google Maps API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5238750" y="2667000"/>
              <a:ext cx="1619100" cy="571500"/>
            </a:xfrm>
            <a:prstGeom prst="roundRect">
              <a:avLst>
                <a:gd fmla="val 10000" name="adj"/>
              </a:avLst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6"/>
            <p:cNvSpPr txBox="1"/>
            <p:nvPr/>
          </p:nvSpPr>
          <p:spPr>
            <a:xfrm>
              <a:off x="5238750" y="266700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Firebase FCM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7048500" y="2667000"/>
              <a:ext cx="1619100" cy="571500"/>
            </a:xfrm>
            <a:prstGeom prst="roundRect">
              <a:avLst>
                <a:gd fmla="val 10000" name="adj"/>
              </a:avLst>
            </a:prstGeom>
            <a:solidFill>
              <a:srgbClr val="5D6D7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6"/>
            <p:cNvSpPr txBox="1"/>
            <p:nvPr/>
          </p:nvSpPr>
          <p:spPr>
            <a:xfrm>
              <a:off x="7048500" y="266700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MQTT Broker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6"/>
          <p:cNvGrpSpPr/>
          <p:nvPr/>
        </p:nvGrpSpPr>
        <p:grpSpPr>
          <a:xfrm>
            <a:off x="285750" y="4191000"/>
            <a:ext cx="8572500" cy="666900"/>
            <a:chOff x="285750" y="4191000"/>
            <a:chExt cx="8572500" cy="666900"/>
          </a:xfrm>
        </p:grpSpPr>
        <p:sp>
          <p:nvSpPr>
            <p:cNvPr id="119" name="Google Shape;119;p6"/>
            <p:cNvSpPr/>
            <p:nvPr/>
          </p:nvSpPr>
          <p:spPr>
            <a:xfrm>
              <a:off x="285750" y="4191000"/>
              <a:ext cx="8572500" cy="666900"/>
            </a:xfrm>
            <a:prstGeom prst="roundRect">
              <a:avLst>
                <a:gd fmla="val 11428" name="adj"/>
              </a:avLst>
            </a:prstGeom>
            <a:solidFill>
              <a:srgbClr val="D6EAF8"/>
            </a:solidFill>
            <a:ln cap="flat" cmpd="sng" w="9525">
              <a:solidFill>
                <a:srgbClr val="2E86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 txBox="1"/>
            <p:nvPr/>
          </p:nvSpPr>
          <p:spPr>
            <a:xfrm>
              <a:off x="285750" y="4191000"/>
              <a:ext cx="857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TCP/HTTPS:</a:t>
              </a:r>
              <a:r>
                <a:rPr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 App ↔ Cloud APIs (OpenRouter, Maps, Firebase) | </a:t>
              </a:r>
              <a:r>
                <a:rPr b="1"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UDP/MQTT:</a:t>
              </a:r>
              <a:r>
                <a:rPr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 IoT ↔ Broker (baixa latência)</a:t>
              </a:r>
              <a:endParaRPr sz="11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Segurança:</a:t>
              </a:r>
              <a:r>
                <a:rPr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 TLS 1.2+ obrigatório em todas as conexões externas</a:t>
              </a:r>
              <a:endParaRPr sz="11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57200" y="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| Monitoramento e NOC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7"/>
          <p:cNvGrpSpPr/>
          <p:nvPr/>
        </p:nvGrpSpPr>
        <p:grpSpPr>
          <a:xfrm>
            <a:off x="333375" y="1047750"/>
            <a:ext cx="2667000" cy="1428900"/>
            <a:chOff x="333375" y="1047750"/>
            <a:chExt cx="2667000" cy="1428900"/>
          </a:xfrm>
        </p:grpSpPr>
        <p:sp>
          <p:nvSpPr>
            <p:cNvPr id="129" name="Google Shape;129;p7"/>
            <p:cNvSpPr/>
            <p:nvPr/>
          </p:nvSpPr>
          <p:spPr>
            <a:xfrm>
              <a:off x="333375" y="104775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333375" y="104775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7"/>
            <p:cNvSpPr txBox="1"/>
            <p:nvPr/>
          </p:nvSpPr>
          <p:spPr>
            <a:xfrm>
              <a:off x="333375" y="1104900"/>
              <a:ext cx="26670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A527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&gt; 99,5%</a:t>
              </a:r>
              <a:endParaRPr sz="3200">
                <a:solidFill>
                  <a:srgbClr val="1A527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Disponibilidade</a:t>
              </a:r>
              <a:endParaRPr b="1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7"/>
          <p:cNvGrpSpPr/>
          <p:nvPr/>
        </p:nvGrpSpPr>
        <p:grpSpPr>
          <a:xfrm>
            <a:off x="3238500" y="1047750"/>
            <a:ext cx="2667000" cy="1428900"/>
            <a:chOff x="3238500" y="1047750"/>
            <a:chExt cx="2667000" cy="1428900"/>
          </a:xfrm>
        </p:grpSpPr>
        <p:sp>
          <p:nvSpPr>
            <p:cNvPr id="133" name="Google Shape;133;p7"/>
            <p:cNvSpPr/>
            <p:nvPr/>
          </p:nvSpPr>
          <p:spPr>
            <a:xfrm>
              <a:off x="3238500" y="104775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238500" y="104775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7"/>
            <p:cNvSpPr txBox="1"/>
            <p:nvPr/>
          </p:nvSpPr>
          <p:spPr>
            <a:xfrm>
              <a:off x="3238500" y="1104900"/>
              <a:ext cx="26670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A527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&lt; 500ms</a:t>
              </a:r>
              <a:endParaRPr sz="3200">
                <a:solidFill>
                  <a:srgbClr val="1A527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Latência HTTP p95</a:t>
              </a:r>
              <a:endParaRPr b="1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7"/>
          <p:cNvGrpSpPr/>
          <p:nvPr/>
        </p:nvGrpSpPr>
        <p:grpSpPr>
          <a:xfrm>
            <a:off x="6143625" y="1047750"/>
            <a:ext cx="2667000" cy="1428900"/>
            <a:chOff x="6143625" y="1047750"/>
            <a:chExt cx="2667000" cy="1428900"/>
          </a:xfrm>
        </p:grpSpPr>
        <p:sp>
          <p:nvSpPr>
            <p:cNvPr id="137" name="Google Shape;137;p7"/>
            <p:cNvSpPr/>
            <p:nvPr/>
          </p:nvSpPr>
          <p:spPr>
            <a:xfrm>
              <a:off x="6143625" y="104775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6143625" y="104775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2E86C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7"/>
            <p:cNvSpPr txBox="1"/>
            <p:nvPr/>
          </p:nvSpPr>
          <p:spPr>
            <a:xfrm>
              <a:off x="6143625" y="1104900"/>
              <a:ext cx="26670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A527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&lt; 1%</a:t>
              </a:r>
              <a:endParaRPr sz="3200">
                <a:solidFill>
                  <a:srgbClr val="1A527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Taxa de Erro</a:t>
              </a:r>
              <a:endParaRPr b="1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333375" y="2667000"/>
            <a:ext cx="2667000" cy="1428900"/>
            <a:chOff x="333375" y="2667000"/>
            <a:chExt cx="2667000" cy="1428900"/>
          </a:xfrm>
        </p:grpSpPr>
        <p:sp>
          <p:nvSpPr>
            <p:cNvPr id="141" name="Google Shape;141;p7"/>
            <p:cNvSpPr/>
            <p:nvPr/>
          </p:nvSpPr>
          <p:spPr>
            <a:xfrm>
              <a:off x="333375" y="26670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333375" y="266700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7"/>
            <p:cNvSpPr txBox="1"/>
            <p:nvPr/>
          </p:nvSpPr>
          <p:spPr>
            <a:xfrm>
              <a:off x="333375" y="2724150"/>
              <a:ext cx="26670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A527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&lt; 5%</a:t>
              </a:r>
              <a:endParaRPr sz="3200">
                <a:solidFill>
                  <a:srgbClr val="1A527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Falha IA</a:t>
              </a:r>
              <a:endParaRPr b="1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7"/>
          <p:cNvGrpSpPr/>
          <p:nvPr/>
        </p:nvGrpSpPr>
        <p:grpSpPr>
          <a:xfrm>
            <a:off x="3238500" y="2667000"/>
            <a:ext cx="2667000" cy="1428900"/>
            <a:chOff x="3238500" y="2667000"/>
            <a:chExt cx="2667000" cy="1428900"/>
          </a:xfrm>
        </p:grpSpPr>
        <p:sp>
          <p:nvSpPr>
            <p:cNvPr id="145" name="Google Shape;145;p7"/>
            <p:cNvSpPr/>
            <p:nvPr/>
          </p:nvSpPr>
          <p:spPr>
            <a:xfrm>
              <a:off x="3238500" y="26670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3238500" y="266700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7"/>
            <p:cNvSpPr txBox="1"/>
            <p:nvPr/>
          </p:nvSpPr>
          <p:spPr>
            <a:xfrm>
              <a:off x="3238500" y="2724150"/>
              <a:ext cx="26670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A527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&lt; 5s</a:t>
              </a:r>
              <a:endParaRPr sz="3200">
                <a:solidFill>
                  <a:srgbClr val="1A527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Push FCM</a:t>
              </a:r>
              <a:endParaRPr b="1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7"/>
          <p:cNvGrpSpPr/>
          <p:nvPr/>
        </p:nvGrpSpPr>
        <p:grpSpPr>
          <a:xfrm>
            <a:off x="6143625" y="2667000"/>
            <a:ext cx="2667000" cy="1428900"/>
            <a:chOff x="6143625" y="2667000"/>
            <a:chExt cx="2667000" cy="1428900"/>
          </a:xfrm>
        </p:grpSpPr>
        <p:sp>
          <p:nvSpPr>
            <p:cNvPr id="149" name="Google Shape;149;p7"/>
            <p:cNvSpPr/>
            <p:nvPr/>
          </p:nvSpPr>
          <p:spPr>
            <a:xfrm>
              <a:off x="6143625" y="26670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143625" y="2667000"/>
              <a:ext cx="2667000" cy="57300"/>
            </a:xfrm>
            <a:prstGeom prst="roundRect">
              <a:avLst>
                <a:gd fmla="val 50000" name="adj"/>
              </a:avLst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 txBox="1"/>
            <p:nvPr/>
          </p:nvSpPr>
          <p:spPr>
            <a:xfrm>
              <a:off x="6143625" y="2724150"/>
              <a:ext cx="26670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A527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100%</a:t>
              </a:r>
              <a:endParaRPr sz="3200">
                <a:solidFill>
                  <a:srgbClr val="1A527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GPS Válido</a:t>
              </a:r>
              <a:endParaRPr b="1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7"/>
          <p:cNvSpPr/>
          <p:nvPr/>
        </p:nvSpPr>
        <p:spPr>
          <a:xfrm>
            <a:off x="285750" y="4381500"/>
            <a:ext cx="8572500" cy="571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85750" y="43815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Segurança:</a:t>
            </a:r>
            <a:r>
              <a:rPr b="0" lang="en-US" sz="105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 TLS 1.2+ + Firebase Auth JWT | </a:t>
            </a:r>
            <a:r>
              <a:rPr b="1" lang="en-US" sz="105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Escalabilidade:</a:t>
            </a:r>
            <a:r>
              <a:rPr b="0" lang="en-US" sz="105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 Firebase auto-scale | </a:t>
            </a:r>
            <a:r>
              <a:rPr b="1" lang="en-US" sz="105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Resiliência:</a:t>
            </a:r>
            <a:r>
              <a:rPr b="0" lang="en-US" sz="105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 timeout 45s + offline-first (Room Fase 3)</a:t>
            </a:r>
            <a:endParaRPr b="0" sz="105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60" name="Google Shape;160;p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8"/>
            <p:cNvSpPr txBox="1"/>
            <p:nvPr/>
          </p:nvSpPr>
          <p:spPr>
            <a:xfrm>
              <a:off x="457200" y="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 | 10 Telas Flutter Implementadas</a:t>
              </a:r>
              <a:endPara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8"/>
          <p:cNvGrpSpPr/>
          <p:nvPr/>
        </p:nvGrpSpPr>
        <p:grpSpPr>
          <a:xfrm>
            <a:off x="381000" y="1047750"/>
            <a:ext cx="8458200" cy="3048150"/>
            <a:chOff x="381000" y="1047750"/>
            <a:chExt cx="8458200" cy="3048150"/>
          </a:xfrm>
        </p:grpSpPr>
        <p:grpSp>
          <p:nvGrpSpPr>
            <p:cNvPr id="163" name="Google Shape;163;p8"/>
            <p:cNvGrpSpPr/>
            <p:nvPr/>
          </p:nvGrpSpPr>
          <p:grpSpPr>
            <a:xfrm>
              <a:off x="381000" y="1047750"/>
              <a:ext cx="1600200" cy="1428900"/>
              <a:chOff x="381000" y="1047750"/>
              <a:chExt cx="1600200" cy="1428900"/>
            </a:xfrm>
          </p:grpSpPr>
          <p:sp>
            <p:nvSpPr>
              <p:cNvPr id="164" name="Google Shape;164;p8"/>
              <p:cNvSpPr/>
              <p:nvPr/>
            </p:nvSpPr>
            <p:spPr>
              <a:xfrm>
                <a:off x="381000" y="104775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381000" y="104775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381000" y="123825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8"/>
              <p:cNvSpPr txBox="1"/>
              <p:nvPr/>
            </p:nvSpPr>
            <p:spPr>
              <a:xfrm>
                <a:off x="381000" y="104775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8"/>
              <p:cNvSpPr txBox="1"/>
              <p:nvPr/>
            </p:nvSpPr>
            <p:spPr>
              <a:xfrm>
                <a:off x="381000" y="142875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Onboarding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8"/>
            <p:cNvGrpSpPr/>
            <p:nvPr/>
          </p:nvGrpSpPr>
          <p:grpSpPr>
            <a:xfrm>
              <a:off x="2095500" y="1047750"/>
              <a:ext cx="1600200" cy="1428900"/>
              <a:chOff x="2095500" y="1047750"/>
              <a:chExt cx="1600200" cy="1428900"/>
            </a:xfrm>
          </p:grpSpPr>
          <p:sp>
            <p:nvSpPr>
              <p:cNvPr id="170" name="Google Shape;170;p8"/>
              <p:cNvSpPr/>
              <p:nvPr/>
            </p:nvSpPr>
            <p:spPr>
              <a:xfrm>
                <a:off x="2095500" y="104775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2095500" y="104775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2095500" y="123825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8"/>
              <p:cNvSpPr txBox="1"/>
              <p:nvPr/>
            </p:nvSpPr>
            <p:spPr>
              <a:xfrm>
                <a:off x="2095500" y="104775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8"/>
              <p:cNvSpPr txBox="1"/>
              <p:nvPr/>
            </p:nvSpPr>
            <p:spPr>
              <a:xfrm>
                <a:off x="2095500" y="142875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Login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" name="Google Shape;175;p8"/>
            <p:cNvGrpSpPr/>
            <p:nvPr/>
          </p:nvGrpSpPr>
          <p:grpSpPr>
            <a:xfrm>
              <a:off x="3810000" y="1047750"/>
              <a:ext cx="1600200" cy="1428900"/>
              <a:chOff x="3810000" y="1047750"/>
              <a:chExt cx="1600200" cy="1428900"/>
            </a:xfrm>
          </p:grpSpPr>
          <p:sp>
            <p:nvSpPr>
              <p:cNvPr id="176" name="Google Shape;176;p8"/>
              <p:cNvSpPr/>
              <p:nvPr/>
            </p:nvSpPr>
            <p:spPr>
              <a:xfrm>
                <a:off x="3810000" y="104775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8"/>
              <p:cNvSpPr/>
              <p:nvPr/>
            </p:nvSpPr>
            <p:spPr>
              <a:xfrm>
                <a:off x="3810000" y="104775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8"/>
              <p:cNvSpPr/>
              <p:nvPr/>
            </p:nvSpPr>
            <p:spPr>
              <a:xfrm>
                <a:off x="3810000" y="123825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8"/>
              <p:cNvSpPr txBox="1"/>
              <p:nvPr/>
            </p:nvSpPr>
            <p:spPr>
              <a:xfrm>
                <a:off x="3810000" y="104775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8"/>
              <p:cNvSpPr txBox="1"/>
              <p:nvPr/>
            </p:nvSpPr>
            <p:spPr>
              <a:xfrm>
                <a:off x="3810000" y="142875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Home (Feed)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8"/>
            <p:cNvGrpSpPr/>
            <p:nvPr/>
          </p:nvGrpSpPr>
          <p:grpSpPr>
            <a:xfrm>
              <a:off x="5524500" y="1047750"/>
              <a:ext cx="1600200" cy="1428900"/>
              <a:chOff x="5524500" y="1047750"/>
              <a:chExt cx="1600200" cy="1428900"/>
            </a:xfrm>
          </p:grpSpPr>
          <p:sp>
            <p:nvSpPr>
              <p:cNvPr id="182" name="Google Shape;182;p8"/>
              <p:cNvSpPr/>
              <p:nvPr/>
            </p:nvSpPr>
            <p:spPr>
              <a:xfrm>
                <a:off x="5524500" y="104775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8"/>
              <p:cNvSpPr/>
              <p:nvPr/>
            </p:nvSpPr>
            <p:spPr>
              <a:xfrm>
                <a:off x="5524500" y="104775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8"/>
              <p:cNvSpPr/>
              <p:nvPr/>
            </p:nvSpPr>
            <p:spPr>
              <a:xfrm>
                <a:off x="5524500" y="123825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8"/>
              <p:cNvSpPr txBox="1"/>
              <p:nvPr/>
            </p:nvSpPr>
            <p:spPr>
              <a:xfrm>
                <a:off x="5524500" y="104775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8"/>
              <p:cNvSpPr txBox="1"/>
              <p:nvPr/>
            </p:nvSpPr>
            <p:spPr>
              <a:xfrm>
                <a:off x="5524500" y="142875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Mapa (Google Maps)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8"/>
            <p:cNvGrpSpPr/>
            <p:nvPr/>
          </p:nvGrpSpPr>
          <p:grpSpPr>
            <a:xfrm>
              <a:off x="7239000" y="1047750"/>
              <a:ext cx="1600200" cy="1428900"/>
              <a:chOff x="7239000" y="1047750"/>
              <a:chExt cx="1600200" cy="1428900"/>
            </a:xfrm>
          </p:grpSpPr>
          <p:sp>
            <p:nvSpPr>
              <p:cNvPr id="188" name="Google Shape;188;p8"/>
              <p:cNvSpPr/>
              <p:nvPr/>
            </p:nvSpPr>
            <p:spPr>
              <a:xfrm>
                <a:off x="7239000" y="104775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7239000" y="104775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7239000" y="123825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8"/>
              <p:cNvSpPr txBox="1"/>
              <p:nvPr/>
            </p:nvSpPr>
            <p:spPr>
              <a:xfrm>
                <a:off x="7239000" y="104775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8"/>
              <p:cNvSpPr txBox="1"/>
              <p:nvPr/>
            </p:nvSpPr>
            <p:spPr>
              <a:xfrm>
                <a:off x="7239000" y="142875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Chat List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" name="Google Shape;193;p8"/>
            <p:cNvGrpSpPr/>
            <p:nvPr/>
          </p:nvGrpSpPr>
          <p:grpSpPr>
            <a:xfrm>
              <a:off x="381000" y="2667000"/>
              <a:ext cx="1600200" cy="1428900"/>
              <a:chOff x="381000" y="2667000"/>
              <a:chExt cx="1600200" cy="1428900"/>
            </a:xfrm>
          </p:grpSpPr>
          <p:sp>
            <p:nvSpPr>
              <p:cNvPr id="194" name="Google Shape;194;p8"/>
              <p:cNvSpPr/>
              <p:nvPr/>
            </p:nvSpPr>
            <p:spPr>
              <a:xfrm>
                <a:off x="381000" y="266700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381000" y="266700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381000" y="285750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8"/>
              <p:cNvSpPr txBox="1"/>
              <p:nvPr/>
            </p:nvSpPr>
            <p:spPr>
              <a:xfrm>
                <a:off x="381000" y="266700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8"/>
              <p:cNvSpPr txBox="1"/>
              <p:nvPr/>
            </p:nvSpPr>
            <p:spPr>
              <a:xfrm>
                <a:off x="381000" y="304800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Chat Individual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199;p8"/>
            <p:cNvGrpSpPr/>
            <p:nvPr/>
          </p:nvGrpSpPr>
          <p:grpSpPr>
            <a:xfrm>
              <a:off x="2095500" y="2667000"/>
              <a:ext cx="1600200" cy="1428900"/>
              <a:chOff x="2095500" y="2667000"/>
              <a:chExt cx="1600200" cy="1428900"/>
            </a:xfrm>
          </p:grpSpPr>
          <p:sp>
            <p:nvSpPr>
              <p:cNvPr id="200" name="Google Shape;200;p8"/>
              <p:cNvSpPr/>
              <p:nvPr/>
            </p:nvSpPr>
            <p:spPr>
              <a:xfrm>
                <a:off x="2095500" y="266700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2095500" y="266700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2095500" y="285750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8"/>
              <p:cNvSpPr txBox="1"/>
              <p:nvPr/>
            </p:nvSpPr>
            <p:spPr>
              <a:xfrm>
                <a:off x="2095500" y="266700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8"/>
              <p:cNvSpPr txBox="1"/>
              <p:nvPr/>
            </p:nvSpPr>
            <p:spPr>
              <a:xfrm>
                <a:off x="2095500" y="304800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Chatbot IA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8"/>
            <p:cNvGrpSpPr/>
            <p:nvPr/>
          </p:nvGrpSpPr>
          <p:grpSpPr>
            <a:xfrm>
              <a:off x="3810000" y="2667000"/>
              <a:ext cx="1600200" cy="1428900"/>
              <a:chOff x="3810000" y="2667000"/>
              <a:chExt cx="1600200" cy="1428900"/>
            </a:xfrm>
          </p:grpSpPr>
          <p:sp>
            <p:nvSpPr>
              <p:cNvPr id="206" name="Google Shape;206;p8"/>
              <p:cNvSpPr/>
              <p:nvPr/>
            </p:nvSpPr>
            <p:spPr>
              <a:xfrm>
                <a:off x="3810000" y="266700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3810000" y="266700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8"/>
              <p:cNvSpPr/>
              <p:nvPr/>
            </p:nvSpPr>
            <p:spPr>
              <a:xfrm>
                <a:off x="3810000" y="285750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8"/>
              <p:cNvSpPr txBox="1"/>
              <p:nvPr/>
            </p:nvSpPr>
            <p:spPr>
              <a:xfrm>
                <a:off x="3810000" y="266700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8"/>
              <p:cNvSpPr txBox="1"/>
              <p:nvPr/>
            </p:nvSpPr>
            <p:spPr>
              <a:xfrm>
                <a:off x="3810000" y="304800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Perfil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211;p8"/>
            <p:cNvGrpSpPr/>
            <p:nvPr/>
          </p:nvGrpSpPr>
          <p:grpSpPr>
            <a:xfrm>
              <a:off x="5524500" y="2667000"/>
              <a:ext cx="1600200" cy="1428900"/>
              <a:chOff x="5524500" y="2667000"/>
              <a:chExt cx="1600200" cy="1428900"/>
            </a:xfrm>
          </p:grpSpPr>
          <p:sp>
            <p:nvSpPr>
              <p:cNvPr id="212" name="Google Shape;212;p8"/>
              <p:cNvSpPr/>
              <p:nvPr/>
            </p:nvSpPr>
            <p:spPr>
              <a:xfrm>
                <a:off x="5524500" y="266700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5524500" y="266700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5524500" y="285750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8"/>
              <p:cNvSpPr txBox="1"/>
              <p:nvPr/>
            </p:nvSpPr>
            <p:spPr>
              <a:xfrm>
                <a:off x="5524500" y="266700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9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8"/>
              <p:cNvSpPr txBox="1"/>
              <p:nvPr/>
            </p:nvSpPr>
            <p:spPr>
              <a:xfrm>
                <a:off x="5524500" y="304800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Oferecer Recurso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" name="Google Shape;217;p8"/>
            <p:cNvGrpSpPr/>
            <p:nvPr/>
          </p:nvGrpSpPr>
          <p:grpSpPr>
            <a:xfrm>
              <a:off x="7239000" y="2667000"/>
              <a:ext cx="1600200" cy="1428900"/>
              <a:chOff x="7239000" y="2667000"/>
              <a:chExt cx="1600200" cy="1428900"/>
            </a:xfrm>
          </p:grpSpPr>
          <p:sp>
            <p:nvSpPr>
              <p:cNvPr id="218" name="Google Shape;218;p8"/>
              <p:cNvSpPr/>
              <p:nvPr/>
            </p:nvSpPr>
            <p:spPr>
              <a:xfrm>
                <a:off x="7239000" y="2667000"/>
                <a:ext cx="1600200" cy="1428900"/>
              </a:xfrm>
              <a:prstGeom prst="roundRect">
                <a:avLst>
                  <a:gd fmla="val 5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7239000" y="2667000"/>
                <a:ext cx="16002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8"/>
              <p:cNvSpPr/>
              <p:nvPr/>
            </p:nvSpPr>
            <p:spPr>
              <a:xfrm>
                <a:off x="7239000" y="2857500"/>
                <a:ext cx="1600200" cy="190500"/>
              </a:xfrm>
              <a:prstGeom prst="rect">
                <a:avLst/>
              </a:prstGeom>
              <a:solidFill>
                <a:srgbClr val="2E86C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8"/>
              <p:cNvSpPr txBox="1"/>
              <p:nvPr/>
            </p:nvSpPr>
            <p:spPr>
              <a:xfrm>
                <a:off x="7239000" y="266700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1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8"/>
              <p:cNvSpPr txBox="1"/>
              <p:nvPr/>
            </p:nvSpPr>
            <p:spPr>
              <a:xfrm>
                <a:off x="7239000" y="3048000"/>
                <a:ext cx="1600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A5276"/>
                    </a:solidFill>
                    <a:latin typeface="Arial"/>
                    <a:ea typeface="Arial"/>
                    <a:cs typeface="Arial"/>
                    <a:sym typeface="Arial"/>
                  </a:rPr>
                  <a:t>Detalhe do Recurso</a:t>
                </a:r>
                <a:endParaRPr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3" name="Google Shape;223;p8"/>
          <p:cNvSpPr/>
          <p:nvPr/>
        </p:nvSpPr>
        <p:spPr>
          <a:xfrm>
            <a:off x="285750" y="4476750"/>
            <a:ext cx="8572500" cy="381000"/>
          </a:xfrm>
          <a:prstGeom prst="roundRect">
            <a:avLst>
              <a:gd fmla="val 2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285750" y="447675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Framework: Flutter 3.19+ | State Management: Provider | CI/CD: GitHub Actions</a:t>
            </a:r>
            <a:endParaRPr b="1" sz="10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57200" y="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| Provider vs ViewModel + Repository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65300" y="952500"/>
            <a:ext cx="4000500" cy="381000"/>
          </a:xfrm>
          <a:prstGeom prst="roundRect">
            <a:avLst>
              <a:gd fmla="val 10000" name="adj"/>
            </a:avLst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165300" y="9525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3 — Kotlin (Nativo)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65300" y="1428750"/>
            <a:ext cx="4000500" cy="66690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165300" y="1428750"/>
            <a:ext cx="57300" cy="666900"/>
          </a:xfrm>
          <a:prstGeom prst="roundRect">
            <a:avLst>
              <a:gd fmla="val 5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355800" y="1428750"/>
            <a:ext cx="361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ResourceViewModel</a:t>
            </a:r>
            <a:endParaRPr b="1" sz="12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Gerenciamento de estado com StateFlow</a:t>
            </a:r>
            <a:endParaRPr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65300" y="2190750"/>
            <a:ext cx="4000500" cy="66690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65300" y="2190750"/>
            <a:ext cx="57300" cy="666900"/>
          </a:xfrm>
          <a:prstGeom prst="roundRect">
            <a:avLst>
              <a:gd fmla="val 5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355800" y="2190750"/>
            <a:ext cx="361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ChatViewModel</a:t>
            </a:r>
            <a:endParaRPr b="1" sz="12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Fluxos de dados reativos em tempo real</a:t>
            </a:r>
            <a:endParaRPr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65300" y="2952750"/>
            <a:ext cx="4000500" cy="66690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65300" y="2952750"/>
            <a:ext cx="57300" cy="666900"/>
          </a:xfrm>
          <a:prstGeom prst="roundRect">
            <a:avLst>
              <a:gd fmla="val 5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355800" y="2952750"/>
            <a:ext cx="361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AuthViewModel</a:t>
            </a:r>
            <a:endParaRPr b="1" sz="12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Lifecycle-aware authentication logic</a:t>
            </a:r>
            <a:endParaRPr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65300" y="3810000"/>
            <a:ext cx="4000500" cy="762000"/>
          </a:xfrm>
          <a:prstGeom prst="roundRect">
            <a:avLst>
              <a:gd fmla="val 10000" name="adj"/>
            </a:avLst>
          </a:prstGeom>
          <a:solidFill>
            <a:srgbClr val="F5EEF8"/>
          </a:solidFill>
          <a:ln cap="flat" cmpd="sng" w="9525">
            <a:solidFill>
              <a:srgbClr val="D7B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308175" y="3810000"/>
            <a:ext cx="3714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D3C98"/>
                </a:solidFill>
                <a:latin typeface="Arial"/>
                <a:ea typeface="Arial"/>
                <a:cs typeface="Arial"/>
                <a:sym typeface="Arial"/>
              </a:rPr>
              <a:t>Repository.kt</a:t>
            </a:r>
            <a:endParaRPr b="1" sz="1300">
              <a:solidFill>
                <a:srgbClr val="7D3C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D3C98"/>
                </a:solidFill>
                <a:latin typeface="Arial"/>
                <a:ea typeface="Arial"/>
                <a:cs typeface="Arial"/>
                <a:sym typeface="Arial"/>
              </a:rPr>
              <a:t>Single Source of Truth (SSOT)</a:t>
            </a:r>
            <a:endParaRPr sz="1000">
              <a:solidFill>
                <a:srgbClr val="7D3C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762500" y="952500"/>
            <a:ext cx="4000500" cy="381000"/>
          </a:xfrm>
          <a:prstGeom prst="roundRect">
            <a:avLst>
              <a:gd fmla="val 1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4762500" y="9525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4 — Flutter (Multiplataforma)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762500" y="1428750"/>
            <a:ext cx="4000500" cy="333300"/>
          </a:xfrm>
          <a:prstGeom prst="roundRect">
            <a:avLst>
              <a:gd fmla="val 11428" name="adj"/>
            </a:avLst>
          </a:prstGeom>
          <a:solidFill>
            <a:srgbClr val="5D6D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4762500" y="1428750"/>
            <a:ext cx="4000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MultiProvider (main.dart)</a:t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762500" y="1857375"/>
            <a:ext cx="40005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705850" y="1857375"/>
            <a:ext cx="57300" cy="714300"/>
          </a:xfrm>
          <a:prstGeom prst="roundRect">
            <a:avLst>
              <a:gd fmla="val 5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4905375" y="1857375"/>
            <a:ext cx="3667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AuthProvider</a:t>
            </a:r>
            <a:endParaRPr b="1" sz="12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Login / Logout / Usuário atual</a:t>
            </a:r>
            <a:endParaRPr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762500" y="2667000"/>
            <a:ext cx="40005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8705850" y="2667000"/>
            <a:ext cx="57300" cy="714300"/>
          </a:xfrm>
          <a:prstGeom prst="roundRect">
            <a:avLst>
              <a:gd fmla="val 5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4905375" y="2667000"/>
            <a:ext cx="3667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ResourceProvider</a:t>
            </a:r>
            <a:endParaRPr b="1" sz="12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Doações / Filtros / Coordenadas mapa</a:t>
            </a:r>
            <a:endParaRPr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762500" y="3476625"/>
            <a:ext cx="40005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8705850" y="3476625"/>
            <a:ext cx="57300" cy="714300"/>
          </a:xfrm>
          <a:prstGeom prst="roundRect">
            <a:avLst>
              <a:gd fmla="val 50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4905375" y="3476625"/>
            <a:ext cx="3667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ChatProvider</a:t>
            </a:r>
            <a:endParaRPr b="1" sz="12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Conversas / Mensagens em tempo real</a:t>
            </a:r>
            <a:endParaRPr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762500" y="4286250"/>
            <a:ext cx="4000500" cy="285900"/>
          </a:xfrm>
          <a:prstGeom prst="roundRect">
            <a:avLst>
              <a:gd fmla="val 1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4762500" y="428625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rPr>
              <a:t>Injeção de dependência centralizada via MultiProvider</a:t>
            </a:r>
            <a:endParaRPr b="1" sz="900">
              <a:solidFill>
                <a:srgbClr val="1A52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225938" y="2476350"/>
            <a:ext cx="476400" cy="4764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4295838" y="2524050"/>
            <a:ext cx="33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VS</a:t>
            </a:r>
            <a:endParaRPr b="1" sz="1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457200" y="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 | Mapas, IA e Firebase</a:t>
            </a:r>
            <a:endParaRPr b="1" sz="2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10"/>
          <p:cNvGrpSpPr/>
          <p:nvPr/>
        </p:nvGrpSpPr>
        <p:grpSpPr>
          <a:xfrm>
            <a:off x="285750" y="1143000"/>
            <a:ext cx="2762400" cy="3619500"/>
            <a:chOff x="285750" y="1143000"/>
            <a:chExt cx="2762400" cy="3619500"/>
          </a:xfrm>
        </p:grpSpPr>
        <p:sp>
          <p:nvSpPr>
            <p:cNvPr id="270" name="Google Shape;270;p10"/>
            <p:cNvSpPr/>
            <p:nvPr/>
          </p:nvSpPr>
          <p:spPr>
            <a:xfrm>
              <a:off x="285750" y="1143000"/>
              <a:ext cx="2762400" cy="3619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285750" y="1143000"/>
              <a:ext cx="2762400" cy="476400"/>
            </a:xfrm>
            <a:prstGeom prst="roundRect">
              <a:avLst>
                <a:gd fmla="val 24000" name="adj"/>
              </a:avLst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285750" y="1428750"/>
              <a:ext cx="2762400" cy="1905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 txBox="1"/>
            <p:nvPr/>
          </p:nvSpPr>
          <p:spPr>
            <a:xfrm>
              <a:off x="381000" y="1143000"/>
              <a:ext cx="2571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Google Maps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0"/>
            <p:cNvSpPr txBox="1"/>
            <p:nvPr/>
          </p:nvSpPr>
          <p:spPr>
            <a:xfrm>
              <a:off x="428625" y="1714500"/>
              <a:ext cx="2476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5276"/>
                </a:buClr>
                <a:buSzPts val="1100"/>
                <a:buFont typeface="Arial"/>
                <a:buChar char="●"/>
              </a:pPr>
              <a:r>
                <a:rPr b="1"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google_maps_flutter 2.5.3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5276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Mapa centrado em SP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5276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Marcadores dos recursos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5276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Localizacao do usuario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5276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InfoWindow + BottomSheet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A5276"/>
                </a:buClr>
                <a:buSzPts val="1100"/>
                <a:buFont typeface="Arial"/>
                <a:buChar char="●"/>
              </a:pPr>
              <a:r>
                <a:rPr i="1" lang="en-US" sz="1100">
                  <a:solidFill>
                    <a:srgbClr val="1A5276"/>
                  </a:solidFill>
                  <a:latin typeface="Arial"/>
                  <a:ea typeface="Arial"/>
                  <a:cs typeface="Arial"/>
                  <a:sym typeface="Arial"/>
                </a:rPr>
                <a:t>Novo na Fase 4 (sem equiv. Fase 3)</a:t>
              </a:r>
              <a:endParaRPr i="1" sz="1100">
                <a:solidFill>
                  <a:srgbClr val="1A527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10"/>
          <p:cNvGrpSpPr/>
          <p:nvPr/>
        </p:nvGrpSpPr>
        <p:grpSpPr>
          <a:xfrm>
            <a:off x="3190875" y="1143000"/>
            <a:ext cx="2762400" cy="3619500"/>
            <a:chOff x="3190875" y="1143000"/>
            <a:chExt cx="2762400" cy="3619500"/>
          </a:xfrm>
        </p:grpSpPr>
        <p:sp>
          <p:nvSpPr>
            <p:cNvPr id="276" name="Google Shape;276;p10"/>
            <p:cNvSpPr/>
            <p:nvPr/>
          </p:nvSpPr>
          <p:spPr>
            <a:xfrm>
              <a:off x="3190875" y="1143000"/>
              <a:ext cx="2762400" cy="3619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3190875" y="1143000"/>
              <a:ext cx="2762400" cy="476400"/>
            </a:xfrm>
            <a:prstGeom prst="roundRect">
              <a:avLst>
                <a:gd fmla="val 24000" name="adj"/>
              </a:avLst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3190875" y="1428750"/>
              <a:ext cx="2762400" cy="190500"/>
            </a:xfrm>
            <a:prstGeom prst="rect">
              <a:avLst/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0"/>
            <p:cNvSpPr txBox="1"/>
            <p:nvPr/>
          </p:nvSpPr>
          <p:spPr>
            <a:xfrm>
              <a:off x="3286125" y="1143000"/>
              <a:ext cx="2571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OpenRouter AI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0"/>
            <p:cNvSpPr txBox="1"/>
            <p:nvPr/>
          </p:nvSpPr>
          <p:spPr>
            <a:xfrm>
              <a:off x="3333750" y="1714500"/>
              <a:ext cx="2476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E844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Endpoint: /v1/chat/completions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844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Modelo: </a:t>
              </a:r>
              <a:r>
                <a:rPr lang="en-US" sz="1100">
                  <a:solidFill>
                    <a:srgbClr val="1E8449"/>
                  </a:solidFill>
                  <a:latin typeface="Arial"/>
                  <a:ea typeface="Arial"/>
                  <a:cs typeface="Arial"/>
                  <a:sym typeface="Arial"/>
                </a:rPr>
                <a:t>baidu/cobuddy:free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844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Chatbot ConectaIA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844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Melhoria de descricao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844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Sugestao de categoria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E8449"/>
                </a:buClr>
                <a:buSzPts val="1100"/>
                <a:buFont typeface="Arial"/>
                <a:buChar char="●"/>
              </a:pPr>
              <a:r>
                <a:rPr i="1" lang="en-US" sz="1100">
                  <a:solidFill>
                    <a:srgbClr val="1E8449"/>
                  </a:solidFill>
                  <a:latin typeface="Arial"/>
                  <a:ea typeface="Arial"/>
                  <a:cs typeface="Arial"/>
                  <a:sym typeface="Arial"/>
                </a:rPr>
                <a:t>Equivalente ao LLMManager Fase 3</a:t>
              </a:r>
              <a:endParaRPr i="1" sz="1100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10"/>
          <p:cNvGrpSpPr/>
          <p:nvPr/>
        </p:nvGrpSpPr>
        <p:grpSpPr>
          <a:xfrm>
            <a:off x="6096000" y="1143000"/>
            <a:ext cx="2762400" cy="3619500"/>
            <a:chOff x="6096000" y="1143000"/>
            <a:chExt cx="2762400" cy="3619500"/>
          </a:xfrm>
        </p:grpSpPr>
        <p:sp>
          <p:nvSpPr>
            <p:cNvPr id="282" name="Google Shape;282;p10"/>
            <p:cNvSpPr/>
            <p:nvPr/>
          </p:nvSpPr>
          <p:spPr>
            <a:xfrm>
              <a:off x="6096000" y="1143000"/>
              <a:ext cx="2762400" cy="3619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6096000" y="1143000"/>
              <a:ext cx="2762400" cy="476400"/>
            </a:xfrm>
            <a:prstGeom prst="roundRect">
              <a:avLst>
                <a:gd fmla="val 24000" name="adj"/>
              </a:avLst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6096000" y="1428750"/>
              <a:ext cx="2762400" cy="190500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6191250" y="1143000"/>
              <a:ext cx="2571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Firebase FCM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6238875" y="1714500"/>
              <a:ext cx="2476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7E22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Push notifications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67E22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Trigger: novo recurso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67E22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Payload: titulo + body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67E22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Tap abre MapScreen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67E22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2C3E50"/>
                  </a:solidFill>
                  <a:latin typeface="Arial"/>
                  <a:ea typeface="Arial"/>
                  <a:cs typeface="Arial"/>
                  <a:sym typeface="Arial"/>
                </a:rPr>
                <a:t>Dep. declaradas no pubspec</a:t>
              </a:r>
              <a:endParaRPr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E67E22"/>
                </a:buClr>
                <a:buSzPts val="1100"/>
                <a:buFont typeface="Arial"/>
                <a:buChar char="●"/>
              </a:pPr>
              <a:r>
                <a:rPr i="1" lang="en-US" sz="1100">
                  <a:solidFill>
                    <a:srgbClr val="E67E22"/>
                  </a:solidFill>
                  <a:latin typeface="Arial"/>
                  <a:ea typeface="Arial"/>
                  <a:cs typeface="Arial"/>
                  <a:sym typeface="Arial"/>
                </a:rPr>
                <a:t>Novo na Fase 4 (sem equiv. Fase 3)</a:t>
              </a:r>
              <a:endParaRPr i="1" sz="11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57200" y="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| Flutter vs Kotlin — Aprendizados Reais</a:t>
            </a:r>
            <a:endParaRPr b="1" i="0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285900" y="1071675"/>
            <a:ext cx="4000500" cy="381000"/>
          </a:xfrm>
          <a:prstGeom prst="roundRect">
            <a:avLst>
              <a:gd fmla="val 10000" name="adj"/>
            </a:avLst>
          </a:prstGeom>
          <a:solidFill>
            <a:srgbClr val="0D7D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285900" y="107167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Flutter (Fase 4)</a:t>
            </a:r>
            <a:endParaRPr b="1" i="0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894425" y="1071675"/>
            <a:ext cx="4000500" cy="381000"/>
          </a:xfrm>
          <a:prstGeom prst="roundRect">
            <a:avLst>
              <a:gd fmla="val 10000" name="adj"/>
            </a:avLst>
          </a:prstGeom>
          <a:solidFill>
            <a:srgbClr val="785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894425" y="1071675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Kotlin (Fase 3)</a:t>
            </a:r>
            <a:endParaRPr b="1" i="0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285900" y="1547925"/>
            <a:ext cx="40005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76400" y="1738425"/>
            <a:ext cx="361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VANTAGENS</a:t>
            </a:r>
            <a:endParaRPr b="1" sz="1200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Hot reload instantaneo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Multiplataforma (Android + iOS)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Provider mais simples que ViewModel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Google Maps integrado facilmente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DESVANTAGENS</a:t>
            </a:r>
            <a:endParaRPr b="1" sz="1200">
              <a:solidFill>
                <a:srgbClr val="C039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Sem Room (sqflite e inferior)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APK maior (runtime embutido)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45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Platform channels p/ hardware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894425" y="1547925"/>
            <a:ext cx="40005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5084925" y="1738425"/>
            <a:ext cx="3619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VANTAGENS</a:t>
            </a:r>
            <a:endParaRPr b="1" sz="1200">
              <a:solidFill>
                <a:srgbClr val="1E8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Room DB: offline-first robusto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StateFlow + Repository pattern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APK menor, melhor performance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Acesso total ao hardware nativo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DESVANTAGENS</a:t>
            </a:r>
            <a:endParaRPr b="1" sz="1200">
              <a:solidFill>
                <a:srgbClr val="C039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Apenas Android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Mais boilerplate para UIs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450"/>
              </a:spcAft>
              <a:buClr>
                <a:srgbClr val="2C3E5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Sem hot reload</a:t>
            </a:r>
            <a:endParaRPr sz="1100">
              <a:solidFill>
                <a:srgbClr val="2C3E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333875" y="2619375"/>
            <a:ext cx="476400" cy="4764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4333875" y="2619375"/>
            <a:ext cx="476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VS</a:t>
            </a:r>
            <a:endParaRPr b="1" i="0" sz="1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274320" y="274320"/>
            <a:ext cx="8595300" cy="82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Comunidade Conectada</a:t>
            </a:r>
            <a:endParaRPr b="1" sz="4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274320" y="1047750"/>
            <a:ext cx="85953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rPr>
              <a:t>Fase 4 — Resultados e Entregas</a:t>
            </a:r>
            <a:endParaRPr b="0" sz="2000">
              <a:solidFill>
                <a:srgbClr val="D6EA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365760" y="1905000"/>
            <a:ext cx="2011800" cy="14289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365760" y="2000250"/>
            <a:ext cx="201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10 Telas</a:t>
            </a:r>
            <a:endParaRPr b="1" sz="26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65760" y="2667000"/>
            <a:ext cx="201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endParaRPr b="0" sz="1400">
              <a:solidFill>
                <a:srgbClr val="D6EA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2514600" y="1905000"/>
            <a:ext cx="2011800" cy="14289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2514600" y="2000250"/>
            <a:ext cx="201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5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 Providers</a:t>
            </a:r>
            <a:endParaRPr b="1" sz="2405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2514600" y="2667000"/>
            <a:ext cx="201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rPr>
              <a:t>Estado global</a:t>
            </a:r>
            <a:endParaRPr b="0" sz="1400">
              <a:solidFill>
                <a:srgbClr val="D6EA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663440" y="1905000"/>
            <a:ext cx="2011800" cy="14289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4663440" y="2000250"/>
            <a:ext cx="201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 APIs</a:t>
            </a:r>
            <a:endParaRPr b="1" sz="26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663440" y="2667000"/>
            <a:ext cx="201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rPr>
              <a:t>OpenRouter + Maps</a:t>
            </a:r>
            <a:endParaRPr b="0" sz="1400">
              <a:solidFill>
                <a:srgbClr val="D6EA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812280" y="1905000"/>
            <a:ext cx="2011800" cy="14289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812280" y="2000250"/>
            <a:ext cx="201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 FCM</a:t>
            </a:r>
            <a:endParaRPr b="1" sz="26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812280" y="2667000"/>
            <a:ext cx="201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6EAF8"/>
                </a:solidFill>
                <a:latin typeface="Arial"/>
                <a:ea typeface="Arial"/>
                <a:cs typeface="Arial"/>
                <a:sym typeface="Arial"/>
              </a:rPr>
              <a:t>Push pronto</a:t>
            </a:r>
            <a:endParaRPr b="0" sz="1400">
              <a:solidFill>
                <a:srgbClr val="D6EA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274320" y="3619500"/>
            <a:ext cx="8595300" cy="571500"/>
          </a:xfrm>
          <a:prstGeom prst="rect">
            <a:avLst/>
          </a:prstGeom>
          <a:solidFill>
            <a:srgbClr val="2E86C1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274320" y="3619500"/>
            <a:ext cx="8595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3 (Kotlin) provou o produto. Fase 4 (Flutter) escala o produto.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3A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Yuri Sousa | RM 556163 | 3SIOA | 2026</a:t>
            </a:r>
            <a:endParaRPr b="0" sz="1200">
              <a:solidFill>
                <a:srgbClr val="BDC3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